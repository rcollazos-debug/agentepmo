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C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Arial"/>
              </a:defRPr>
            </a:pPr>
            <a:r>
              <a:t>WO0000000358906 - Utilizaciones de Cupos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37744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10C1BC"/>
                </a:solidFill>
                <a:latin typeface="Arial"/>
              </a:defRPr>
            </a:pPr>
            <a:r>
              <a:t>Kickoff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10058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Arial"/>
              </a:defRPr>
            </a:pPr>
            <a:r>
              <a:t>Cliente: Bancoomeva</a:t>
            </a:r>
          </a:p>
          <a:p>
            <a:pPr algn="ctr">
              <a:defRPr sz="1600">
                <a:solidFill>
                  <a:srgbClr val="FFFFFF"/>
                </a:solidFill>
                <a:latin typeface="Arial"/>
              </a:defRPr>
            </a:pPr>
            <a:r>
              <a:t>Inicio oficial: 20-abr-2026</a:t>
            </a:r>
          </a:p>
          <a:p>
            <a:pPr algn="ctr">
              <a:defRPr sz="1600">
                <a:solidFill>
                  <a:srgbClr val="FFFFFF"/>
                </a:solidFill>
                <a:latin typeface="Arial"/>
              </a:defRPr>
            </a:pPr>
            <a:r>
              <a:t>Fecha compromiso: 20-may-2026</a:t>
            </a:r>
          </a:p>
          <a:p>
            <a:pPr algn="ctr">
              <a:defRPr sz="1600">
                <a:solidFill>
                  <a:srgbClr val="FFFFFF"/>
                </a:solidFill>
                <a:latin typeface="Arial"/>
              </a:defRPr>
            </a:pPr>
            <a:r>
              <a:t>Project Manager: Valeria Rivera Rico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9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10C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Objetivo y Alcance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11155680" cy="5212080"/>
          </a:xfrm>
          <a:prstGeom prst="rect">
            <a:avLst/>
          </a:prstGeom>
          <a:solidFill>
            <a:srgbClr val="F2F6F7"/>
          </a:solidFill>
          <a:ln>
            <a:solidFill>
              <a:srgbClr val="10C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93A"/>
                </a:solidFill>
                <a:latin typeface="Arial"/>
              </a:defRPr>
            </a:pPr>
            <a:r>
              <a:t>Implementar el modulo de Utilizacion de Cupos para Bancoomeva.</a:t>
            </a:r>
          </a:p>
          <a:p>
            <a:pPr>
              <a:spcAft>
                <a:spcPts val="1000"/>
              </a:spcAft>
              <a:defRPr sz="2000">
                <a:solidFill>
                  <a:srgbClr val="1E293A"/>
                </a:solidFill>
                <a:latin typeface="Arial"/>
              </a:defRPr>
            </a:pPr>
            <a:r>
              <a:t>Prioridad inmediata: entregar utilizarCuposOrq y avanzar en paralelo las HU funcionales HU-BCO-004 a HU-BCO-015.</a:t>
            </a:r>
          </a:p>
          <a:p>
            <a:pPr>
              <a:spcAft>
                <a:spcPts val="1000"/>
              </a:spcAft>
              <a:defRPr sz="2000">
                <a:solidFill>
                  <a:srgbClr val="1E293A"/>
                </a:solidFill>
                <a:latin typeface="Arial"/>
              </a:defRPr>
            </a:pPr>
            <a:r>
              <a:t>La Epica 1 no hace parte de la prioridad inmediata y se abordara mas adelante.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10C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Equipo Clave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234440"/>
          <a:ext cx="110642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754880"/>
                <a:gridCol w="3383280"/>
              </a:tblGrid>
              <a:tr h="6629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Rol</a:t>
                      </a:r>
                    </a:p>
                  </a:txBody>
                  <a:tcPr>
                    <a:solidFill>
                      <a:srgbClr val="1E29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Nombre</a:t>
                      </a:r>
                    </a:p>
                  </a:txBody>
                  <a:tcPr>
                    <a:solidFill>
                      <a:srgbClr val="1E29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Dedicacion</a:t>
                      </a:r>
                    </a:p>
                  </a:txBody>
                  <a:tcPr>
                    <a:solidFill>
                      <a:srgbClr val="1E293A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A"/>
                          </a:solidFill>
                          <a:latin typeface="Arial"/>
                        </a:defRPr>
                      </a:pPr>
                      <a:r>
                        <a:t>Gerente de Proyecto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A"/>
                          </a:solidFill>
                          <a:latin typeface="Arial"/>
                        </a:defRPr>
                      </a:pPr>
                      <a:r>
                        <a:t>Valeria Rivera Rico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A"/>
                          </a:solidFill>
                          <a:latin typeface="Arial"/>
                        </a:defRPr>
                      </a:pPr>
                      <a:r>
                        <a:t>4 horas diarias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A"/>
                          </a:solidFill>
                          <a:latin typeface="Arial"/>
                        </a:defRPr>
                      </a:pPr>
                      <a:r>
                        <a:t>Soporte 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A"/>
                          </a:solidFill>
                          <a:latin typeface="Arial"/>
                        </a:defRPr>
                      </a:pPr>
                      <a:r>
                        <a:t>Raul Collazos Castillo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A"/>
                          </a:solidFill>
                          <a:latin typeface="Arial"/>
                        </a:defRPr>
                      </a:pPr>
                      <a:r>
                        <a:t>Bajo demanda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A"/>
                          </a:solidFill>
                          <a:latin typeface="Arial"/>
                        </a:defRPr>
                      </a:pPr>
                      <a:r>
                        <a:t>PO VortexBird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A"/>
                          </a:solidFill>
                          <a:latin typeface="Arial"/>
                        </a:defRPr>
                      </a:pPr>
                      <a:r>
                        <a:t>Ingrid Y. Mosquera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A"/>
                          </a:solidFill>
                          <a:latin typeface="Arial"/>
                        </a:defRPr>
                      </a:pPr>
                      <a:r>
                        <a:t>Bajo demanda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A"/>
                          </a:solidFill>
                          <a:latin typeface="Arial"/>
                        </a:defRPr>
                      </a:pPr>
                      <a:r>
                        <a:t>PO / Analista funcional cliente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A"/>
                          </a:solidFill>
                          <a:latin typeface="Arial"/>
                        </a:defRPr>
                      </a:pPr>
                      <a:r>
                        <a:t>Adriana Munoz Nanez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A"/>
                          </a:solidFill>
                          <a:latin typeface="Arial"/>
                        </a:defRPr>
                      </a:pPr>
                      <a:r>
                        <a:t>Cliente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A"/>
                          </a:solidFill>
                          <a:latin typeface="Arial"/>
                        </a:defRPr>
                      </a:pPr>
                      <a:r>
                        <a:t>Arquitecto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A"/>
                          </a:solidFill>
                          <a:latin typeface="Arial"/>
                        </a:defRPr>
                      </a:pPr>
                      <a:r>
                        <a:t>Christian Ospina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A"/>
                          </a:solidFill>
                          <a:latin typeface="Arial"/>
                        </a:defRPr>
                      </a:pPr>
                      <a:r>
                        <a:t>Por definir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A"/>
                          </a:solidFill>
                          <a:latin typeface="Arial"/>
                        </a:defRPr>
                      </a:pPr>
                      <a:r>
                        <a:t>Apoyo arquitectura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A"/>
                          </a:solidFill>
                          <a:latin typeface="Arial"/>
                        </a:defRPr>
                      </a:pPr>
                      <a:r>
                        <a:t>Sebastian Garcia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A"/>
                          </a:solidFill>
                          <a:latin typeface="Arial"/>
                        </a:defRPr>
                      </a:pPr>
                      <a:r>
                        <a:t>Por definir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A"/>
                          </a:solidFill>
                          <a:latin typeface="Arial"/>
                        </a:defRPr>
                      </a:pPr>
                      <a:r>
                        <a:t>QA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A"/>
                          </a:solidFill>
                          <a:latin typeface="Arial"/>
                        </a:defRPr>
                      </a:pPr>
                      <a:r>
                        <a:t>Kathereen Gonzalez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A"/>
                          </a:solidFill>
                          <a:latin typeface="Arial"/>
                        </a:defRPr>
                      </a:pPr>
                      <a:r>
                        <a:t>100% tras cierre de desarrollo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10C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Distribucion de Trabajo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234440"/>
          <a:ext cx="110642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91840"/>
                <a:gridCol w="5486400"/>
              </a:tblGrid>
              <a:tr h="106070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Frente</a:t>
                      </a:r>
                    </a:p>
                  </a:txBody>
                  <a:tcPr>
                    <a:solidFill>
                      <a:srgbClr val="1E29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Responsable</a:t>
                      </a:r>
                    </a:p>
                  </a:txBody>
                  <a:tcPr>
                    <a:solidFill>
                      <a:srgbClr val="1E29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Detalle</a:t>
                      </a:r>
                    </a:p>
                  </a:txBody>
                  <a:tcPr>
                    <a:solidFill>
                      <a:srgbClr val="1E293A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A"/>
                          </a:solidFill>
                          <a:latin typeface="Arial"/>
                        </a:defRPr>
                      </a:pPr>
                      <a:r>
                        <a:t>Orquestacion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A"/>
                          </a:solidFill>
                          <a:latin typeface="Arial"/>
                        </a:defRPr>
                      </a:pPr>
                      <a:r>
                        <a:t>Jurgen Sanclemente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A"/>
                          </a:solidFill>
                          <a:latin typeface="Arial"/>
                        </a:defRPr>
                      </a:pPr>
                      <a:r>
                        <a:t>Servicio utilizarCuposOrq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A"/>
                          </a:solidFill>
                          <a:latin typeface="Arial"/>
                        </a:defRPr>
                      </a:pPr>
                      <a:r>
                        <a:t>Funcional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A"/>
                          </a:solidFill>
                          <a:latin typeface="Arial"/>
                        </a:defRPr>
                      </a:pPr>
                      <a:r>
                        <a:t>Sebastian Caicedo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A"/>
                          </a:solidFill>
                          <a:latin typeface="Arial"/>
                        </a:defRPr>
                      </a:pPr>
                      <a:r>
                        <a:t>HU-BCO-004 a HU-BCO-015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A"/>
                          </a:solidFill>
                          <a:latin typeface="Arial"/>
                        </a:defRPr>
                      </a:pPr>
                      <a:r>
                        <a:t>Funcional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A"/>
                          </a:solidFill>
                          <a:latin typeface="Arial"/>
                        </a:defRPr>
                      </a:pPr>
                      <a:r>
                        <a:t>David Velazco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A"/>
                          </a:solidFill>
                          <a:latin typeface="Arial"/>
                        </a:defRPr>
                      </a:pPr>
                      <a:r>
                        <a:t>HU-BCO-004 a HU-BCO-015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A"/>
                          </a:solidFill>
                          <a:latin typeface="Arial"/>
                        </a:defRPr>
                      </a:pPr>
                      <a:r>
                        <a:t>QA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A"/>
                          </a:solidFill>
                          <a:latin typeface="Arial"/>
                        </a:defRPr>
                      </a:pPr>
                      <a:r>
                        <a:t>Kathereen Gonzalez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A"/>
                          </a:solidFill>
                          <a:latin typeface="Arial"/>
                        </a:defRPr>
                      </a:pPr>
                      <a:r>
                        <a:t>Inicia despues del desarrollo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10C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Mensajes Clave del Kickoff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11155680" cy="5212080"/>
          </a:xfrm>
          <a:prstGeom prst="rect">
            <a:avLst/>
          </a:prstGeom>
          <a:solidFill>
            <a:srgbClr val="F2F6F7"/>
          </a:solidFill>
          <a:ln>
            <a:solidFill>
              <a:srgbClr val="10C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93A"/>
                </a:solidFill>
                <a:latin typeface="Arial"/>
              </a:defRPr>
            </a:pPr>
            <a:r>
              <a:t>1. Se debe entregar el servicio utilizarCuposOrq sin la mediacion el lunes de la proxima semana.</a:t>
            </a:r>
          </a:p>
          <a:p>
            <a:pPr>
              <a:spcAft>
                <a:spcPts val="1000"/>
              </a:spcAft>
              <a:defRPr sz="2000">
                <a:solidFill>
                  <a:srgbClr val="1E293A"/>
                </a:solidFill>
                <a:latin typeface="Arial"/>
              </a:defRPr>
            </a:pPr>
            <a:r>
              <a:t>2. El frente banca debe hacer la solicitud formal de la mediacion del servicio utilizarCupos a la celula de Interoperabilidad Bancoomeva.</a:t>
            </a:r>
          </a:p>
          <a:p>
            <a:pPr>
              <a:spcAft>
                <a:spcPts val="1000"/>
              </a:spcAft>
              <a:defRPr sz="2000">
                <a:solidFill>
                  <a:srgbClr val="1E293A"/>
                </a:solidFill>
                <a:latin typeface="Arial"/>
              </a:defRPr>
            </a:pPr>
            <a:r>
              <a:t>3. La mediacion no hace parte del alcance del proyecto.</a:t>
            </a:r>
          </a:p>
          <a:p>
            <a:pPr>
              <a:spcAft>
                <a:spcPts val="1000"/>
              </a:spcAft>
              <a:defRPr sz="2000">
                <a:solidFill>
                  <a:srgbClr val="1E293A"/>
                </a:solidFill>
                <a:latin typeface="Arial"/>
              </a:defRPr>
            </a:pPr>
            <a:r>
              <a:t>4. Sebastian Caicedo y David Velazco se comprometieron a entregar su parte el 04-may-2026 para iniciar QA.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10C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Cronograma Ejecutivo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234440"/>
          <a:ext cx="108813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2286000"/>
                <a:gridCol w="4023360"/>
              </a:tblGrid>
              <a:tr h="883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Hito</a:t>
                      </a:r>
                    </a:p>
                  </a:txBody>
                  <a:tcPr>
                    <a:solidFill>
                      <a:srgbClr val="1E29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Fecha</a:t>
                      </a:r>
                    </a:p>
                  </a:txBody>
                  <a:tcPr>
                    <a:solidFill>
                      <a:srgbClr val="1E29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Observacion</a:t>
                      </a:r>
                    </a:p>
                  </a:txBody>
                  <a:tcPr>
                    <a:solidFill>
                      <a:srgbClr val="1E293A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A"/>
                          </a:solidFill>
                          <a:latin typeface="Arial"/>
                        </a:defRPr>
                      </a:pPr>
                      <a:r>
                        <a:t>Inicio oficial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A"/>
                          </a:solidFill>
                          <a:latin typeface="Arial"/>
                        </a:defRPr>
                      </a:pPr>
                      <a:r>
                        <a:t>20-abr-2026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A"/>
                          </a:solidFill>
                          <a:latin typeface="Arial"/>
                        </a:defRPr>
                      </a:pPr>
                      <a:r>
                        <a:t>Confirmado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A"/>
                          </a:solidFill>
                          <a:latin typeface="Arial"/>
                        </a:defRPr>
                      </a:pPr>
                      <a:r>
                        <a:t>Entrega utilizarCuposOrq sin mediacion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A"/>
                          </a:solidFill>
                          <a:latin typeface="Arial"/>
                        </a:defRPr>
                      </a:pPr>
                      <a:r>
                        <a:t>27-abr-2026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A"/>
                          </a:solidFill>
                          <a:latin typeface="Arial"/>
                        </a:defRPr>
                      </a:pPr>
                      <a:r>
                        <a:t>Compromiso inmediato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A"/>
                          </a:solidFill>
                          <a:latin typeface="Arial"/>
                        </a:defRPr>
                      </a:pPr>
                      <a:r>
                        <a:t>Entrega Sebastian y David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A"/>
                          </a:solidFill>
                          <a:latin typeface="Arial"/>
                        </a:defRPr>
                      </a:pPr>
                      <a:r>
                        <a:t>04-may-2026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A"/>
                          </a:solidFill>
                          <a:latin typeface="Arial"/>
                        </a:defRPr>
                      </a:pPr>
                      <a:r>
                        <a:t>Habilita QA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A"/>
                          </a:solidFill>
                          <a:latin typeface="Arial"/>
                        </a:defRPr>
                      </a:pPr>
                      <a:r>
                        <a:t>Inicio QA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A"/>
                          </a:solidFill>
                          <a:latin typeface="Arial"/>
                        </a:defRPr>
                      </a:pPr>
                      <a:r>
                        <a:t>04-may-2026 o siguiente dia habil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A"/>
                          </a:solidFill>
                          <a:latin typeface="Arial"/>
                        </a:defRPr>
                      </a:pPr>
                      <a:r>
                        <a:t>Sujeto a cierre de desarrollo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A"/>
                          </a:solidFill>
                          <a:latin typeface="Arial"/>
                        </a:defRPr>
                      </a:pPr>
                      <a:r>
                        <a:t>Fecha compromiso del proyecto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A"/>
                          </a:solidFill>
                          <a:latin typeface="Arial"/>
                        </a:defRPr>
                      </a:pPr>
                      <a:r>
                        <a:t>20-may-2026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A"/>
                          </a:solidFill>
                          <a:latin typeface="Arial"/>
                        </a:defRPr>
                      </a:pPr>
                      <a:r>
                        <a:t>Baseline formal actual</a:t>
                      </a:r>
                    </a:p>
                  </a:txBody>
                  <a:tcPr>
                    <a:solidFill>
                      <a:srgbClr val="F2F6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10C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Dependencias y Riesgos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11155680" cy="5212080"/>
          </a:xfrm>
          <a:prstGeom prst="rect">
            <a:avLst/>
          </a:prstGeom>
          <a:solidFill>
            <a:srgbClr val="F2F6F7"/>
          </a:solidFill>
          <a:ln>
            <a:solidFill>
              <a:srgbClr val="10C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93A"/>
                </a:solidFill>
                <a:latin typeface="Arial"/>
              </a:defRPr>
            </a:pPr>
            <a:r>
              <a:t>Dependencias abiertas: consultarCotizacionMoneda, contrato de orquestadorDeTransacciones y detalle del CC4 de CrearPrestamoORQ V4.</a:t>
            </a:r>
          </a:p>
          <a:p>
            <a:pPr>
              <a:spcAft>
                <a:spcPts val="1000"/>
              </a:spcAft>
              <a:defRPr sz="2000">
                <a:solidFill>
                  <a:srgbClr val="1E293A"/>
                </a:solidFill>
                <a:latin typeface="Arial"/>
              </a:defRPr>
            </a:pPr>
            <a:r>
              <a:t>La solicitud formal de la mediacion utilizarCupos debe gestionarla el frente banca con Interoperabilidad.</a:t>
            </a:r>
          </a:p>
          <a:p>
            <a:pPr>
              <a:spcAft>
                <a:spcPts val="1000"/>
              </a:spcAft>
              <a:defRPr sz="2000">
                <a:solidFill>
                  <a:srgbClr val="1E293A"/>
                </a:solidFill>
                <a:latin typeface="Arial"/>
              </a:defRPr>
            </a:pPr>
            <a:r>
              <a:t>Riesgo de reproceso si el CC4 cambia contratos o validaciones del flujo.</a:t>
            </a:r>
          </a:p>
          <a:p>
            <a:pPr>
              <a:spcAft>
                <a:spcPts val="1000"/>
              </a:spcAft>
              <a:defRPr sz="2000">
                <a:solidFill>
                  <a:srgbClr val="1E293A"/>
                </a:solidFill>
                <a:latin typeface="Arial"/>
              </a:defRPr>
            </a:pPr>
            <a:r>
              <a:t>Riesgo de retraso si las dependencias del cliente no se liberan a tiempo.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0644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65656"/>
                </a:solidFill>
                <a:latin typeface="Arial"/>
              </a:defRPr>
            </a:pPr>
            <a:r>
              <a:t>Feriados considerados: 01-may-2026, 18-may-2026, 08-jun-2026, 15-jun-2026 y 29-jun-2026.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10C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Acuerdos y Proximos Pasos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11155680" cy="5212080"/>
          </a:xfrm>
          <a:prstGeom prst="rect">
            <a:avLst/>
          </a:prstGeom>
          <a:solidFill>
            <a:srgbClr val="F2F6F7"/>
          </a:solidFill>
          <a:ln>
            <a:solidFill>
              <a:srgbClr val="10C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93A"/>
                </a:solidFill>
                <a:latin typeface="Arial"/>
              </a:defRPr>
            </a:pPr>
            <a:r>
              <a:t>Entregar primero utilizarCuposOrq y sin mediacion.</a:t>
            </a:r>
          </a:p>
          <a:p>
            <a:pPr>
              <a:spcAft>
                <a:spcPts val="1000"/>
              </a:spcAft>
              <a:defRPr sz="2000">
                <a:solidFill>
                  <a:srgbClr val="1E293A"/>
                </a:solidFill>
                <a:latin typeface="Arial"/>
              </a:defRPr>
            </a:pPr>
            <a:r>
              <a:t>Mantener el foco en las historias funcionales HU-BCO-004 a HU-BCO-015.</a:t>
            </a:r>
          </a:p>
          <a:p>
            <a:pPr>
              <a:spcAft>
                <a:spcPts val="1000"/>
              </a:spcAft>
              <a:defRPr sz="2000">
                <a:solidFill>
                  <a:srgbClr val="1E293A"/>
                </a:solidFill>
                <a:latin typeface="Arial"/>
              </a:defRPr>
            </a:pPr>
            <a:r>
              <a:t>Solicitar y obtener las dependencias externas pendientes del cliente e Interoperabilidad.</a:t>
            </a:r>
          </a:p>
          <a:p>
            <a:pPr>
              <a:spcAft>
                <a:spcPts val="1000"/>
              </a:spcAft>
              <a:defRPr sz="2000">
                <a:solidFill>
                  <a:srgbClr val="1E293A"/>
                </a:solidFill>
                <a:latin typeface="Arial"/>
              </a:defRPr>
            </a:pPr>
            <a:r>
              <a:t>Preparar la entrada de QA inmediatamente despues del cierre del bloque funcional comprometido.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